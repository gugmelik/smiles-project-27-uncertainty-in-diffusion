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Related Work &amp;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</a:t>
            </a:r>
            <a:r>
              <a:rPr b="1" sz="1400">
                <a:solidFill>
                  <a:srgbClr val="12100C"/>
                </a:solidFill>
                <a:latin typeface="Poppins"/>
              </a:rPr>
              <a:t>TREAD</a:t>
            </a:r>
            <a:r>
              <a:rPr sz="1400">
                <a:solidFill>
                  <a:srgbClr val="3A362E"/>
                </a:solidFill>
                <a:latin typeface="Poppins"/>
              </a:rPr>
              <a:t> (Krause et al., 2025) — token routing for efficient DiT training. Presented purely as an efficiency method; the stochastic-depth training it induces is never analysed.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</a:t>
            </a:r>
            <a:r>
              <a:rPr b="1" sz="1400">
                <a:solidFill>
                  <a:srgbClr val="12100C"/>
                </a:solidFill>
                <a:latin typeface="Poppins"/>
              </a:rPr>
              <a:t>Generative Uncertainty in Diffusion</a:t>
            </a:r>
            <a:r>
              <a:rPr sz="1400">
                <a:solidFill>
                  <a:srgbClr val="3A362E"/>
                </a:solidFill>
                <a:latin typeface="Poppins"/>
              </a:rPr>
              <a:t> (Jazbec et al., 2025) — Bayesian UQ via last-layer Laplace, for U-Net / flow matching. No DiT, no per-timestep profile; aleatoric left as future work.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</a:t>
            </a:r>
            <a:r>
              <a:rPr b="1" sz="1400">
                <a:solidFill>
                  <a:srgbClr val="12100C"/>
                </a:solidFill>
                <a:latin typeface="Poppins"/>
              </a:rPr>
              <a:t>HyperDM</a:t>
            </a:r>
            <a:r>
              <a:rPr sz="1400">
                <a:solidFill>
                  <a:srgbClr val="3A362E"/>
                </a:solidFill>
                <a:latin typeface="Poppins"/>
              </a:rPr>
              <a:t> (Chan et al., NeurIPS 2024) — epistemic + aleatoric via a hyper-network ensemble. Rigorous but computationally heavy; no timestep-resolved analysis.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</a:t>
            </a:r>
            <a:r>
              <a:rPr b="1" sz="1400">
                <a:solidFill>
                  <a:srgbClr val="12100C"/>
                </a:solidFill>
                <a:latin typeface="Poppins"/>
              </a:rPr>
              <a:t>Timestep-Aware Block Masking</a:t>
            </a:r>
            <a:r>
              <a:rPr sz="1400">
                <a:solidFill>
                  <a:srgbClr val="3A362E"/>
                </a:solidFill>
                <a:latin typeface="Poppins"/>
              </a:rPr>
              <a:t> (2025) — different DiT blocks activate at different timesteps, supporting the early-vs-late hypothesis.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</a:t>
            </a:r>
            <a:r>
              <a:rPr b="1" sz="1400">
                <a:solidFill>
                  <a:srgbClr val="12100C"/>
                </a:solidFill>
                <a:latin typeface="Poppins"/>
              </a:rPr>
              <a:t>Attention entropy</a:t>
            </a:r>
            <a:r>
              <a:rPr sz="1400">
                <a:solidFill>
                  <a:srgbClr val="3A362E"/>
                </a:solidFill>
                <a:latin typeface="Poppins"/>
              </a:rPr>
              <a:t> — an established UQ proxy in NLP and ViTs, never applied to the diffusion timestep axis.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074920"/>
            <a:ext cx="11185855" cy="1143000"/>
          </a:xfrm>
          <a:prstGeom prst="rect">
            <a:avLst/>
          </a:prstGeom>
          <a:solidFill>
            <a:srgbClr val="EFECE4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E0A800"/>
                </a:solidFill>
                <a:latin typeface="Poppins"/>
              </a:rPr>
              <a:t>OUR GAP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TREAD presents routing as an efficiency mechanism. </a:t>
            </a:r>
            <a:r>
              <a:rPr b="1" sz="1300">
                <a:solidFill>
                  <a:srgbClr val="12100C"/>
                </a:solidFill>
                <a:latin typeface="Poppins"/>
              </a:rPr>
              <a:t>We are the first to use its routing as an inference-time uncertainty-quantification substrate</a:t>
            </a:r>
            <a:r>
              <a:rPr sz="1300">
                <a:solidFill>
                  <a:srgbClr val="3A362E"/>
                </a:solidFill>
                <a:latin typeface="Poppins"/>
              </a:rPr>
              <a:t> — combined with attention entropy, resolved per timestep, decomposed into epistemic / aleatoric, and linked to generation quality. Training-free throughout.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Method — the three proxies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6E685C"/>
                </a:solidFill>
                <a:latin typeface="Poppins"/>
              </a:rPr>
              <a:t>All three are inference-time and training-free.  D</a:t>
            </a:r>
            <a:r>
              <a:rPr baseline="-25000" sz="1300">
                <a:solidFill>
                  <a:srgbClr val="6E685C"/>
                </a:solidFill>
                <a:latin typeface="Poppins"/>
              </a:rPr>
              <a:t>θ</a:t>
            </a:r>
            <a:r>
              <a:rPr sz="1300">
                <a:solidFill>
                  <a:srgbClr val="6E685C"/>
                </a:solidFill>
                <a:latin typeface="Poppins"/>
              </a:rPr>
              <a:t> is the x̂</a:t>
            </a:r>
            <a:r>
              <a:rPr baseline="-25000" sz="1300">
                <a:solidFill>
                  <a:srgbClr val="6E685C"/>
                </a:solidFill>
                <a:latin typeface="Poppins"/>
              </a:rPr>
              <a:t>0</a:t>
            </a:r>
            <a:r>
              <a:rPr sz="1300">
                <a:solidFill>
                  <a:srgbClr val="6E685C"/>
                </a:solidFill>
                <a:latin typeface="Poppins"/>
              </a:rPr>
              <a:t>-prediction.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85855" cy="502920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700">
                <a:solidFill>
                  <a:srgbClr val="12100C"/>
                </a:solidFill>
                <a:latin typeface="Poppins"/>
              </a:rPr>
              <a:t>1 ·  U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ens</a:t>
            </a:r>
            <a:r>
              <a:rPr sz="1700">
                <a:solidFill>
                  <a:srgbClr val="12100C"/>
                </a:solidFill>
                <a:latin typeface="Poppins"/>
              </a:rPr>
              <a:t>(t, c)  =  Var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k</a:t>
            </a:r>
            <a:r>
              <a:rPr sz="1700">
                <a:solidFill>
                  <a:srgbClr val="12100C"/>
                </a:solidFill>
                <a:latin typeface="Poppins"/>
              </a:rPr>
              <a:t> [ D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θ</a:t>
            </a:r>
            <a:r>
              <a:rPr sz="1700">
                <a:solidFill>
                  <a:srgbClr val="12100C"/>
                </a:solidFill>
                <a:latin typeface="Poppins"/>
              </a:rPr>
              <a:t>( x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t</a:t>
            </a:r>
            <a:r>
              <a:rPr baseline="30000" sz="1700">
                <a:solidFill>
                  <a:srgbClr val="12100C"/>
                </a:solidFill>
                <a:latin typeface="Poppins"/>
              </a:rPr>
              <a:t>(k)</a:t>
            </a:r>
            <a:r>
              <a:rPr sz="1700">
                <a:solidFill>
                  <a:srgbClr val="12100C"/>
                </a:solidFill>
                <a:latin typeface="Poppins"/>
              </a:rPr>
              <a:t>, t, c ) ],   z</a:t>
            </a:r>
            <a:r>
              <a:rPr baseline="30000" sz="1700">
                <a:solidFill>
                  <a:srgbClr val="12100C"/>
                </a:solidFill>
                <a:latin typeface="Poppins"/>
              </a:rPr>
              <a:t>(1..K)</a:t>
            </a:r>
            <a:r>
              <a:rPr sz="1700">
                <a:solidFill>
                  <a:srgbClr val="12100C"/>
                </a:solidFill>
                <a:latin typeface="Poppins"/>
              </a:rPr>
              <a:t> ~ N(0, I)  through the full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1284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Captures </a:t>
            </a:r>
            <a:r>
              <a:rPr b="1" sz="1300">
                <a:solidFill>
                  <a:srgbClr val="12100C"/>
                </a:solidFill>
                <a:latin typeface="Poppins"/>
              </a:rPr>
              <a:t>data stochasticity</a:t>
            </a:r>
            <a:r>
              <a:rPr sz="1300">
                <a:solidFill>
                  <a:srgbClr val="3A362E"/>
                </a:solidFill>
                <a:latin typeface="Poppins"/>
              </a:rPr>
              <a:t> — different noise, different image.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78608"/>
            <a:ext cx="11185855" cy="502920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700">
                <a:solidFill>
                  <a:srgbClr val="12100C"/>
                </a:solidFill>
                <a:latin typeface="Poppins"/>
              </a:rPr>
              <a:t>2 ·  U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route</a:t>
            </a:r>
            <a:r>
              <a:rPr sz="1700">
                <a:solidFill>
                  <a:srgbClr val="12100C"/>
                </a:solidFill>
                <a:latin typeface="Poppins"/>
              </a:rPr>
              <a:t>(t, c)  =  Var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m</a:t>
            </a:r>
            <a:r>
              <a:rPr sz="1700">
                <a:solidFill>
                  <a:srgbClr val="12100C"/>
                </a:solidFill>
                <a:latin typeface="Poppins"/>
              </a:rPr>
              <a:t> [ D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θ</a:t>
            </a:r>
            <a:r>
              <a:rPr baseline="30000" sz="1700">
                <a:solidFill>
                  <a:srgbClr val="12100C"/>
                </a:solidFill>
                <a:latin typeface="Poppins"/>
              </a:rPr>
              <a:t>r(m)</a:t>
            </a:r>
            <a:r>
              <a:rPr sz="1700">
                <a:solidFill>
                  <a:srgbClr val="12100C"/>
                </a:solidFill>
                <a:latin typeface="Poppins"/>
              </a:rPr>
              <a:t>( x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t</a:t>
            </a:r>
            <a:r>
              <a:rPr sz="1700">
                <a:solidFill>
                  <a:srgbClr val="12100C"/>
                </a:solidFill>
                <a:latin typeface="Poppins"/>
              </a:rPr>
              <a:t>, t, c )  |  z ],   M = 16 random TREAD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9816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Captures </a:t>
            </a:r>
            <a:r>
              <a:rPr b="1" sz="1300">
                <a:solidFill>
                  <a:srgbClr val="12100C"/>
                </a:solidFill>
                <a:latin typeface="Poppins"/>
              </a:rPr>
              <a:t>model / sub-network ambiguity</a:t>
            </a:r>
            <a:r>
              <a:rPr sz="1300">
                <a:solidFill>
                  <a:srgbClr val="3A362E"/>
                </a:solidFill>
                <a:latin typeface="Poppins"/>
              </a:rPr>
              <a:t> — the only </a:t>
            </a:r>
            <a:r>
              <a:rPr b="1" sz="1300">
                <a:solidFill>
                  <a:srgbClr val="12100C"/>
                </a:solidFill>
                <a:latin typeface="Poppins"/>
              </a:rPr>
              <a:t>epistemic</a:t>
            </a:r>
            <a:r>
              <a:rPr sz="1300">
                <a:solidFill>
                  <a:srgbClr val="3A362E"/>
                </a:solidFill>
                <a:latin typeface="Poppins"/>
              </a:rPr>
              <a:t> proxy.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65576"/>
            <a:ext cx="11185855" cy="502920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700">
                <a:solidFill>
                  <a:srgbClr val="12100C"/>
                </a:solidFill>
                <a:latin typeface="Poppins"/>
              </a:rPr>
              <a:t>3 ·  U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attn</a:t>
            </a:r>
            <a:r>
              <a:rPr sz="1700">
                <a:solidFill>
                  <a:srgbClr val="12100C"/>
                </a:solidFill>
                <a:latin typeface="Poppins"/>
              </a:rPr>
              <a:t>(t, ℓ)  =  − Σ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ij</a:t>
            </a:r>
            <a:r>
              <a:rPr sz="1700">
                <a:solidFill>
                  <a:srgbClr val="12100C"/>
                </a:solidFill>
                <a:latin typeface="Poppins"/>
              </a:rPr>
              <a:t>  A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ij</a:t>
            </a:r>
            <a:r>
              <a:rPr baseline="30000" sz="1700">
                <a:solidFill>
                  <a:srgbClr val="12100C"/>
                </a:solidFill>
                <a:latin typeface="Poppins"/>
              </a:rPr>
              <a:t>(ℓ)</a:t>
            </a:r>
            <a:r>
              <a:rPr sz="1700">
                <a:solidFill>
                  <a:srgbClr val="12100C"/>
                </a:solidFill>
                <a:latin typeface="Poppins"/>
              </a:rPr>
              <a:t>  log A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ij</a:t>
            </a:r>
            <a:r>
              <a:rPr baseline="30000" sz="1700">
                <a:solidFill>
                  <a:srgbClr val="12100C"/>
                </a:solidFill>
                <a:latin typeface="Poppins"/>
              </a:rPr>
              <a:t>(ℓ)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86784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We report the </a:t>
            </a:r>
            <a:r>
              <a:rPr b="1" sz="1300">
                <a:solidFill>
                  <a:srgbClr val="12100C"/>
                </a:solidFill>
                <a:latin typeface="Poppins"/>
              </a:rPr>
              <a:t>mean per-query</a:t>
            </a:r>
            <a:r>
              <a:rPr sz="1300">
                <a:solidFill>
                  <a:srgbClr val="3A362E"/>
                </a:solidFill>
                <a:latin typeface="Poppins"/>
              </a:rPr>
              <a:t> entropy — bounded by ln N = ln 256 = 5.55, which gives the curve an interpretable ceiling (on the ceiling = attention is uniform = the block selects nothing).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617720"/>
            <a:ext cx="11185855" cy="502920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700">
                <a:solidFill>
                  <a:srgbClr val="12100C"/>
                </a:solidFill>
                <a:latin typeface="Poppins"/>
              </a:rPr>
              <a:t>U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epi</a:t>
            </a:r>
            <a:r>
              <a:rPr sz="1700">
                <a:solidFill>
                  <a:srgbClr val="12100C"/>
                </a:solidFill>
                <a:latin typeface="Poppins"/>
              </a:rPr>
              <a:t>  =  Var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r</a:t>
            </a:r>
            <a:r>
              <a:rPr sz="1700">
                <a:solidFill>
                  <a:srgbClr val="12100C"/>
                </a:solidFill>
                <a:latin typeface="Poppins"/>
              </a:rPr>
              <a:t>[ D | z ]        U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ale</a:t>
            </a:r>
            <a:r>
              <a:rPr sz="1700">
                <a:solidFill>
                  <a:srgbClr val="12100C"/>
                </a:solidFill>
                <a:latin typeface="Poppins"/>
              </a:rPr>
              <a:t>  =  E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r</a:t>
            </a:r>
            <a:r>
              <a:rPr sz="1700">
                <a:solidFill>
                  <a:srgbClr val="12100C"/>
                </a:solidFill>
                <a:latin typeface="Poppins"/>
              </a:rPr>
              <a:t>[ Var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z</a:t>
            </a:r>
            <a:r>
              <a:rPr sz="1700">
                <a:solidFill>
                  <a:srgbClr val="12100C"/>
                </a:solidFill>
                <a:latin typeface="Poppins"/>
              </a:rPr>
              <a:t>[ D ] ]        (law of total variance)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937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12100C"/>
                </a:solidFill>
                <a:latin typeface="Poppins"/>
              </a:rPr>
              <a:t>Seeds alone cannot separate model ambiguity from data stochasticity.</a:t>
            </a:r>
            <a:r>
              <a:rPr sz="1300">
                <a:solidFill>
                  <a:srgbClr val="3A362E"/>
                </a:solidFill>
                <a:latin typeface="Poppins"/>
              </a:rPr>
              <a:t> Routes + seeds can — that is the whole point of having two independent noise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85855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808415"/>
              </a:tblGrid>
              <a:tr h="274320"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DiT-XL/2 — 675 M params, 28 blocks, patch 2 → 256 tokens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Checkpoint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official DiT-XL-2-256x256.pt — inference only, no retraining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VAE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stabilityai/sd-vae-ft-ema, latent 32 × 32 ×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Sampler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DDPM ancestral, 250 steps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Guidance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cfg_scale = 1.0 — pure conditional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Seeds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K = 16 per class, batched in one reverse pass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Classes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50, stratified easy / medium / hard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Bins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20 timestep bins over t ∈ [0, 1000)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00C"/>
                          </a:solidFill>
                          <a:latin typeface="Poppins"/>
                        </a:rPr>
                        <a:t>Hardware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A362E"/>
                          </a:solidFill>
                          <a:latin typeface="Poppins"/>
                        </a:rPr>
                        <a:t>1 × RTX 4070 (12 GB) — ≈ 1 min per class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5074920"/>
            <a:ext cx="11185855" cy="1143000"/>
          </a:xfrm>
          <a:prstGeom prst="rect">
            <a:avLst/>
          </a:prstGeom>
          <a:solidFill>
            <a:srgbClr val="EFECE4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E0A800"/>
                </a:solidFill>
                <a:latin typeface="Poppins"/>
              </a:rPr>
              <a:t>CORRECTION TO SLIDE 3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“Data: ImageNet 256×256” is misleading. </a:t>
            </a:r>
            <a:r>
              <a:rPr b="1" sz="1300">
                <a:solidFill>
                  <a:srgbClr val="12100C"/>
                </a:solidFill>
                <a:latin typeface="Poppins"/>
              </a:rPr>
              <a:t>No ImageNet images are loaded anywhere.</a:t>
            </a:r>
            <a:r>
              <a:rPr sz="1300">
                <a:solidFill>
                  <a:srgbClr val="3A362E"/>
                </a:solidFill>
                <a:latin typeface="Poppins"/>
              </a:rPr>
              <a:t> Every proxy is measured on trajectories the model generates from z ~ N(0, I) conditioned on a class label — “50 ImageNet classes” means 50 label integers. The ImageNet-ness lives in the checkpoint’s weights.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FFFFFF"/>
                </a:solidFill>
                <a:latin typeface="Poppins"/>
              </a:rPr>
              <a:t>Routing variance — the proxy we could not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1185855" cy="502920"/>
          </a:xfrm>
          <a:prstGeom prst="rect">
            <a:avLst/>
          </a:prstGeom>
          <a:solidFill>
            <a:srgbClr val="E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700">
                <a:solidFill>
                  <a:srgbClr val="12100C"/>
                </a:solidFill>
                <a:latin typeface="Poppins"/>
              </a:rPr>
              <a:t>U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route</a:t>
            </a:r>
            <a:r>
              <a:rPr sz="1700">
                <a:solidFill>
                  <a:srgbClr val="12100C"/>
                </a:solidFill>
                <a:latin typeface="Poppins"/>
              </a:rPr>
              <a:t>(t, c)  =  Var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m</a:t>
            </a:r>
            <a:r>
              <a:rPr sz="1700">
                <a:solidFill>
                  <a:srgbClr val="12100C"/>
                </a:solidFill>
                <a:latin typeface="Poppins"/>
              </a:rPr>
              <a:t> [ D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θ</a:t>
            </a:r>
            <a:r>
              <a:rPr baseline="30000" sz="1700">
                <a:solidFill>
                  <a:srgbClr val="12100C"/>
                </a:solidFill>
                <a:latin typeface="Poppins"/>
              </a:rPr>
              <a:t>r(m)</a:t>
            </a:r>
            <a:r>
              <a:rPr sz="1700">
                <a:solidFill>
                  <a:srgbClr val="12100C"/>
                </a:solidFill>
                <a:latin typeface="Poppins"/>
              </a:rPr>
              <a:t>( x</a:t>
            </a:r>
            <a:r>
              <a:rPr baseline="-25000" sz="1700">
                <a:solidFill>
                  <a:srgbClr val="12100C"/>
                </a:solidFill>
                <a:latin typeface="Poppins"/>
              </a:rPr>
              <a:t>t</a:t>
            </a:r>
            <a:r>
              <a:rPr sz="1700">
                <a:solidFill>
                  <a:srgbClr val="12100C"/>
                </a:solidFill>
                <a:latin typeface="Poppins"/>
              </a:rPr>
              <a:t>, t, c )  |  z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85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It is the </a:t>
            </a:r>
            <a:r>
              <a:rPr b="1" sz="1400">
                <a:solidFill>
                  <a:srgbClr val="12100C"/>
                </a:solidFill>
                <a:latin typeface="Poppins"/>
              </a:rPr>
              <a:t>only epistemic proxy</a:t>
            </a:r>
            <a:r>
              <a:rPr sz="1400">
                <a:solidFill>
                  <a:srgbClr val="3A362E"/>
                </a:solidFill>
                <a:latin typeface="Poppins"/>
              </a:rPr>
              <a:t>. The proposal calls it “the linchpin” — the epistemic / aleatoric split in Tasks 3 and 5 is unjustified without 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It is </a:t>
            </a:r>
            <a:r>
              <a:rPr b="1" sz="1400">
                <a:solidFill>
                  <a:srgbClr val="12100C"/>
                </a:solidFill>
                <a:latin typeface="Poppins"/>
              </a:rPr>
              <a:t>only legitimate on a TREAD-trained model</a:t>
            </a:r>
            <a:r>
              <a:rPr sz="1400">
                <a:solidFill>
                  <a:srgbClr val="3A362E"/>
                </a:solidFill>
                <a:latin typeface="Poppins"/>
              </a:rPr>
              <a:t>: routing variance means something because the network was trained as a distribution over sub-networks. Injecting routes — or MC-Dropout — into a vanilla DiT that never saw them yields uninterpretable variance.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11185855" cy="685800"/>
          </a:xfrm>
          <a:prstGeom prst="rect">
            <a:avLst/>
          </a:prstGeom>
          <a:solidFill>
            <a:srgbClr val="FBEEEB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03A2E"/>
                </a:solidFill>
                <a:latin typeface="Poppins"/>
              </a:rPr>
              <a:t>BLOCKER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There is </a:t>
            </a:r>
            <a:r>
              <a:rPr b="1" sz="1300">
                <a:solidFill>
                  <a:srgbClr val="12100C"/>
                </a:solidFill>
                <a:latin typeface="Poppins"/>
              </a:rPr>
              <a:t>no publicly released TREAD DiT-XL/2 checkpoint.</a:t>
            </a:r>
            <a:r>
              <a:rPr sz="1300">
                <a:solidFill>
                  <a:srgbClr val="3A362E"/>
                </a:solidFill>
                <a:latin typeface="Poppins"/>
              </a:rPr>
              <a:t> We cannot run it, and we cannot substitute vanilla 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0"/>
            <a:ext cx="111858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</a:t>
            </a:r>
            <a:r>
              <a:rPr b="1" sz="1400">
                <a:solidFill>
                  <a:srgbClr val="12100C"/>
                </a:solidFill>
                <a:latin typeface="Poppins"/>
              </a:rPr>
              <a:t>What is ready:</a:t>
            </a:r>
            <a:r>
              <a:rPr sz="1400">
                <a:solidFill>
                  <a:srgbClr val="3A362E"/>
                </a:solidFill>
                <a:latin typeface="Poppins"/>
              </a:rPr>
              <a:t> a model-agnostic reference implementation — routing_variance, route_sanity, epi_ale_decomposition — validated on a small TREAD-trained DiT. Swapping in a real checkpoint is a one-function change.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•  </a:t>
            </a:r>
            <a:r>
              <a:rPr b="1" sz="1400">
                <a:solidFill>
                  <a:srgbClr val="12100C"/>
                </a:solidFill>
                <a:latin typeface="Poppins"/>
              </a:rPr>
              <a:t>Decision needed from the curator:</a:t>
            </a:r>
            <a:r>
              <a:rPr sz="1400">
                <a:solidFill>
                  <a:srgbClr val="3A362E"/>
                </a:solidFill>
                <a:latin typeface="Poppins"/>
              </a:rPr>
              <a:t> obtain a TREAD checkpoint, or train a TREAD DiT-B/2 ourselves? </a:t>
            </a:r>
            <a:r>
              <a:rPr b="1" sz="1400">
                <a:solidFill>
                  <a:srgbClr val="12100C"/>
                </a:solidFill>
                <a:latin typeface="Poppins"/>
              </a:rPr>
              <a:t>This gates Tasks 2, 3 and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All proxies over 50 ImageNet classes × 20 timestep bins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+5</a:t>
            </a:r>
          </a:p>
        </p:txBody>
      </p:sp>
      <p:pic>
        <p:nvPicPr>
          <p:cNvPr id="4" name="Picture 3" descr="fig1_class_bi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393" y="1207008"/>
            <a:ext cx="5658908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148072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E685C"/>
                </a:solidFill>
                <a:latin typeface="Poppins"/>
              </a:rPr>
              <a:t>Row-normalised. Blue = easy, orange = medium, red = hard.  U_route column exists in the CSV but is NaN — see the blocker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11185855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200">
                <a:solidFill>
                  <a:srgbClr val="12100C"/>
                </a:solidFill>
                <a:latin typeface="Poppins"/>
              </a:rPr>
              <a:t>Stratification — expected difficulty of p(x|c):</a:t>
            </a:r>
            <a:r>
              <a:rPr sz="1200">
                <a:solidFill>
                  <a:srgbClr val="3A362E"/>
                </a:solidFill>
                <a:latin typeface="Poppins"/>
              </a:rPr>
              <a:t>  easy = one canonical object, plain background (lemon, golf ball);  medium = real pose / background variation (retriever, zebra);  hard = polysemous label or cluttered scene (crane ×2, restaurant, coral reef).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E685C"/>
                </a:solidFill>
                <a:latin typeface="Poppins"/>
              </a:rPr>
              <a:t>The proposal asks to stratify </a:t>
            </a:r>
            <a:r>
              <a:rPr b="1" sz="1200">
                <a:solidFill>
                  <a:srgbClr val="6E685C"/>
                </a:solidFill>
                <a:latin typeface="Poppins"/>
              </a:rPr>
              <a:t>by expected FID contribution</a:t>
            </a:r>
            <a:r>
              <a:rPr sz="1200">
                <a:solidFill>
                  <a:srgbClr val="6E685C"/>
                </a:solidFill>
                <a:latin typeface="Poppins"/>
              </a:rPr>
              <a:t> — that needs real ImageNet reference images. We stratify semantically and flag FID-based stratification as future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Timestep profiles by class difficulty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+6</a:t>
            </a:r>
          </a:p>
        </p:txBody>
      </p:sp>
      <p:pic>
        <p:nvPicPr>
          <p:cNvPr id="4" name="Picture 3" descr="fig2_difficul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3366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75066"/>
            <a:ext cx="11185855" cy="1891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6E685C"/>
                </a:solidFill>
                <a:latin typeface="Poppins"/>
              </a:rPr>
              <a:t>Mean ± 1 std over classes.</a:t>
            </a: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Left:</a:t>
            </a:r>
            <a:r>
              <a:rPr sz="1300">
                <a:solidFill>
                  <a:srgbClr val="3A362E"/>
                </a:solidFill>
                <a:latin typeface="Poppins"/>
              </a:rPr>
              <a:t> easy sits cleanly above medium above hard, at every timestep — the anti-correlation, drawn.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Right:</a:t>
            </a:r>
            <a:r>
              <a:rPr sz="1300">
                <a:solidFill>
                  <a:srgbClr val="3A362E"/>
                </a:solidFill>
                <a:latin typeface="Poppins"/>
              </a:rPr>
              <a:t> the three attention curves lie on top of each other — the null, drawn.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U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attn</a:t>
            </a:r>
            <a:r>
              <a:rPr sz="1300">
                <a:solidFill>
                  <a:srgbClr val="3A362E"/>
                </a:solidFill>
                <a:latin typeface="Poppins"/>
              </a:rPr>
              <a:t> decays exactly as the proposal predicts, and it is a clean, low-variance signal — but it is the </a:t>
            </a:r>
            <a:r>
              <a:rPr b="1" sz="1300">
                <a:solidFill>
                  <a:srgbClr val="12100C"/>
                </a:solidFill>
                <a:latin typeface="Poppins"/>
              </a:rPr>
              <a:t>same</a:t>
            </a:r>
            <a:r>
              <a:rPr sz="1300">
                <a:solidFill>
                  <a:srgbClr val="3A362E"/>
                </a:solidFill>
                <a:latin typeface="Poppins"/>
              </a:rPr>
              <a:t> signal for every class. It is a property of the denoising schedule, not of the conditioning.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Attention entropy — across all 50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+7</a:t>
            </a:r>
          </a:p>
        </p:txBody>
      </p:sp>
      <p:pic>
        <p:nvPicPr>
          <p:cNvPr id="4" name="Picture 3" descr="fig3_attn_per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371600"/>
            <a:ext cx="10058400" cy="28798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8651"/>
            <a:ext cx="11185855" cy="2377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6E685C"/>
                </a:solidFill>
                <a:latin typeface="Poppins"/>
              </a:rPr>
              <a:t>Averaged over all 50 classes, ± 1 std. Dashed line = ln 256 = 5.55, the maximum possible entropy over 256 tokens.</a:t>
            </a: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Block 0 sits pinned on the ceiling.</a:t>
            </a:r>
            <a:r>
              <a:rPr sz="1300">
                <a:solidFill>
                  <a:srgbClr val="3A362E"/>
                </a:solidFill>
                <a:latin typeface="Poppins"/>
              </a:rPr>
              <a:t> Entropy at the maximum means attention is uniform — the early block is not selecting anything, it passes everything through.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Selection emerges with </a:t>
            </a:r>
            <a:r>
              <a:rPr b="1" sz="1300">
                <a:solidFill>
                  <a:srgbClr val="12100C"/>
                </a:solidFill>
                <a:latin typeface="Poppins"/>
              </a:rPr>
              <a:t>depth</a:t>
            </a:r>
            <a:r>
              <a:rPr sz="1300">
                <a:solidFill>
                  <a:srgbClr val="3A362E"/>
                </a:solidFill>
                <a:latin typeface="Poppins"/>
              </a:rPr>
              <a:t>: blocks 14 and 27 fall to ≈3.4 nats as the image resolves. The early-vs-late structure shows up along the </a:t>
            </a:r>
            <a:r>
              <a:rPr b="1" sz="1300">
                <a:solidFill>
                  <a:srgbClr val="12100C"/>
                </a:solidFill>
                <a:latin typeface="Poppins"/>
              </a:rPr>
              <a:t>block axis</a:t>
            </a:r>
            <a:r>
              <a:rPr sz="1300">
                <a:solidFill>
                  <a:srgbClr val="3A362E"/>
                </a:solidFill>
                <a:latin typeface="Poppins"/>
              </a:rPr>
              <a:t> as clearly as along the timestep axis.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Key finding (a) — U_ens rises along the denoising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700">
                <a:solidFill>
                  <a:srgbClr val="B03A2E"/>
                </a:solidFill>
                <a:latin typeface="Poppins"/>
              </a:rPr>
              <a:t>The proposal predicts the opposite.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A362E"/>
                </a:solidFill>
                <a:latin typeface="Poppins"/>
              </a:rPr>
              <a:t>Hypothesis: early steps (high σ) = mode selection = </a:t>
            </a:r>
            <a:r>
              <a:rPr b="1" sz="1500">
                <a:solidFill>
                  <a:srgbClr val="12100C"/>
                </a:solidFill>
                <a:latin typeface="Poppins"/>
              </a:rPr>
              <a:t>high</a:t>
            </a:r>
            <a:r>
              <a:rPr sz="1500">
                <a:solidFill>
                  <a:srgbClr val="3A362E"/>
                </a:solidFill>
                <a:latin typeface="Poppins"/>
              </a:rPr>
              <a:t> seed variance, decaying late.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A362E"/>
                </a:solidFill>
                <a:latin typeface="Poppins"/>
              </a:rPr>
              <a:t>Measured: starts at ≈0.03–0.05, dips further around t ≈ 900, then </a:t>
            </a:r>
            <a:r>
              <a:rPr b="1" sz="1500">
                <a:solidFill>
                  <a:srgbClr val="12100C"/>
                </a:solidFill>
                <a:latin typeface="Poppins"/>
              </a:rPr>
              <a:t>grows monotonically to ≈0.50–0.65</a:t>
            </a:r>
            <a:r>
              <a:rPr sz="1500">
                <a:solidFill>
                  <a:srgbClr val="3A362E"/>
                </a:solidFill>
                <a:latin typeface="Poppins"/>
              </a:rPr>
              <a:t> at t → 0.  Reproduced independently by two team members on separate code — this is a property of the metric, not a bug.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185855" cy="914400"/>
          </a:xfrm>
          <a:prstGeom prst="rect">
            <a:avLst/>
          </a:prstGeom>
          <a:solidFill>
            <a:srgbClr val="EFECE4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E0A800"/>
                </a:solidFill>
                <a:latin typeface="Poppins"/>
              </a:rPr>
              <a:t>WHY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At high σ the model resolves nothing and predicts x̂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0</a:t>
            </a:r>
            <a:r>
              <a:rPr sz="1300">
                <a:solidFill>
                  <a:srgbClr val="3A362E"/>
                </a:solidFill>
                <a:latin typeface="Poppins"/>
              </a:rPr>
              <a:t> ≈ the conditional mean — “the average lemon” — so all seeds agree. By the end each seed has committed to </a:t>
            </a:r>
            <a:r>
              <a:rPr b="1" sz="1300">
                <a:solidFill>
                  <a:srgbClr val="12100C"/>
                </a:solidFill>
                <a:latin typeface="Poppins"/>
              </a:rPr>
              <a:t>its own</a:t>
            </a:r>
            <a:r>
              <a:rPr sz="1300">
                <a:solidFill>
                  <a:srgbClr val="3A362E"/>
                </a:solidFill>
                <a:latin typeface="Poppins"/>
              </a:rPr>
              <a:t> lemon, so they disagree maximally.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754880"/>
            <a:ext cx="11185855" cy="1005840"/>
          </a:xfrm>
          <a:prstGeom prst="rect">
            <a:avLst/>
          </a:prstGeom>
          <a:solidFill>
            <a:srgbClr val="FBEEEB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03A2E"/>
                </a:solidFill>
                <a:latin typeface="Poppins"/>
              </a:rPr>
              <a:t>CONSEQUENCE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Var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k</a:t>
            </a:r>
            <a:r>
              <a:rPr sz="1300">
                <a:solidFill>
                  <a:srgbClr val="3A362E"/>
                </a:solidFill>
                <a:latin typeface="Poppins"/>
              </a:rPr>
              <a:t>[x̂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0</a:t>
            </a:r>
            <a:r>
              <a:rPr sz="1300">
                <a:solidFill>
                  <a:srgbClr val="3A362E"/>
                </a:solidFill>
                <a:latin typeface="Poppins"/>
              </a:rPr>
              <a:t>] in latent space measures </a:t>
            </a:r>
            <a:r>
              <a:rPr b="1" sz="1300">
                <a:solidFill>
                  <a:srgbClr val="12100C"/>
                </a:solidFill>
                <a:latin typeface="Poppins"/>
              </a:rPr>
              <a:t>divergence of the final images</a:t>
            </a:r>
            <a:r>
              <a:rPr sz="1300">
                <a:solidFill>
                  <a:srgbClr val="3A362E"/>
                </a:solidFill>
                <a:latin typeface="Poppins"/>
              </a:rPr>
              <a:t>, not mode selection. To test the proposal’s actual claim, variance must be taken in a space where “mode” is meaningful — e.g. CLIP / DINO embeddings of x̂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0</a:t>
            </a:r>
            <a:r>
              <a:rPr sz="1300">
                <a:solidFill>
                  <a:srgbClr val="3A362E"/>
                </a:solidFill>
                <a:latin typeface="Poppins"/>
              </a:rPr>
              <a:t> — not raw latents.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Key finding (b) — U_ens anti-correlates with class difficulty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5486400" cy="10972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26080"/>
                <a:gridCol w="1371600"/>
                <a:gridCol w="118872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E685C"/>
                          </a:solidFill>
                          <a:latin typeface="Poppins"/>
                        </a:rPr>
                        <a:t>Proxy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E685C"/>
                          </a:solidFill>
                          <a:latin typeface="Poppins"/>
                        </a:rPr>
                        <a:t>Spearman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E685C"/>
                          </a:solidFill>
                          <a:latin typeface="Poppins"/>
                        </a:rPr>
                        <a:t>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U_ens  early (t ≥ 800)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B03A2E"/>
                          </a:solidFill>
                          <a:latin typeface="Poppins"/>
                        </a:rPr>
                        <a:t>−0.62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&lt;0.001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U_ens  late (t ≤ 200)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B03A2E"/>
                          </a:solidFill>
                          <a:latin typeface="Poppins"/>
                        </a:rPr>
                        <a:t>−0.72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&lt;0.001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U_attn late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+0.05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0.72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325880"/>
          <a:ext cx="5394960" cy="10972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34640"/>
                <a:gridCol w="128016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E685C"/>
                          </a:solidFill>
                          <a:latin typeface="Poppins"/>
                        </a:rPr>
                        <a:t>Proposal’s key comparison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E685C"/>
                          </a:solidFill>
                          <a:latin typeface="Poppins"/>
                        </a:rPr>
                        <a:t>early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E685C"/>
                          </a:solidFill>
                          <a:latin typeface="Poppins"/>
                        </a:rPr>
                        <a:t>late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lemon — unimodal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B03A2E"/>
                          </a:solidFill>
                          <a:latin typeface="Poppins"/>
                        </a:rPr>
                        <a:t>0.0470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0.7065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crane, bird — ambiguous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0.0232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0.4618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crane, machine — ambiguous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0.0304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3A362E"/>
                          </a:solidFill>
                          <a:latin typeface="Poppins"/>
                        </a:rPr>
                        <a:t>0.4946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78892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3A362E"/>
                </a:solidFill>
                <a:latin typeface="Poppins"/>
              </a:rPr>
              <a:t>Easy classes carry the </a:t>
            </a:r>
            <a:r>
              <a:rPr b="1" sz="1500">
                <a:solidFill>
                  <a:srgbClr val="12100C"/>
                </a:solidFill>
                <a:latin typeface="Poppins"/>
              </a:rPr>
              <a:t>highest</a:t>
            </a:r>
            <a:r>
              <a:rPr sz="1500">
                <a:solidFill>
                  <a:srgbClr val="3A362E"/>
                </a:solidFill>
                <a:latin typeface="Poppins"/>
              </a:rPr>
              <a:t> seed variance. Attention entropy carries </a:t>
            </a:r>
            <a:r>
              <a:rPr b="1" sz="1500">
                <a:solidFill>
                  <a:srgbClr val="12100C"/>
                </a:solidFill>
                <a:latin typeface="Poppins"/>
              </a:rPr>
              <a:t>no class information at all</a:t>
            </a:r>
            <a:r>
              <a:rPr sz="1500">
                <a:solidFill>
                  <a:srgbClr val="3A362E"/>
                </a:solidFill>
                <a:latin typeface="Poppins"/>
              </a:rPr>
              <a:t> — a clean null. And the proposal’s own key comparison fails in the predicted direction: </a:t>
            </a:r>
            <a:r>
              <a:rPr b="1" sz="1500">
                <a:solidFill>
                  <a:srgbClr val="12100C"/>
                </a:solidFill>
                <a:latin typeface="Poppins"/>
              </a:rPr>
              <a:t>lemon has ~2× the early variance of either crane.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39"/>
            <a:ext cx="11185855" cy="1143000"/>
          </a:xfrm>
          <a:prstGeom prst="rect">
            <a:avLst/>
          </a:prstGeom>
          <a:solidFill>
            <a:srgbClr val="FBEEEB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03A2E"/>
                </a:solidFill>
                <a:latin typeface="Poppins"/>
              </a:rPr>
              <a:t>WHAT IT MEANS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Var[x̂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0</a:t>
            </a:r>
            <a:r>
              <a:rPr sz="1300">
                <a:solidFill>
                  <a:srgbClr val="3A362E"/>
                </a:solidFill>
                <a:latin typeface="Poppins"/>
              </a:rPr>
              <a:t>] in latent space is dominated by </a:t>
            </a:r>
            <a:r>
              <a:rPr b="1" sz="1300">
                <a:solidFill>
                  <a:srgbClr val="12100C"/>
                </a:solidFill>
                <a:latin typeface="Poppins"/>
              </a:rPr>
              <a:t>how much the class’s dominant low-frequency layout swings</a:t>
            </a:r>
            <a:r>
              <a:rPr sz="1300">
                <a:solidFill>
                  <a:srgbClr val="3A362E"/>
                </a:solidFill>
                <a:latin typeface="Poppins"/>
              </a:rPr>
              <a:t>, not by semantic ambiguity. A lemon is one big saturated blob; a coral reef is generic clutter in every sample. Normalising each curve by its own late value shrinks the effect (−0.62 → −0.48) but does </a:t>
            </a:r>
            <a:r>
              <a:rPr b="1" sz="1300">
                <a:solidFill>
                  <a:srgbClr val="12100C"/>
                </a:solidFill>
                <a:latin typeface="Poppins"/>
              </a:rPr>
              <a:t>not</a:t>
            </a:r>
            <a:r>
              <a:rPr sz="1300">
                <a:solidFill>
                  <a:srgbClr val="3A362E"/>
                </a:solidFill>
                <a:latin typeface="Poppins"/>
              </a:rPr>
              <a:t> remove it — the shape is genuinely class-dependent.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349240"/>
            <a:ext cx="11185855" cy="1051560"/>
          </a:xfrm>
          <a:prstGeom prst="rect">
            <a:avLst/>
          </a:prstGeom>
          <a:solidFill>
            <a:srgbClr val="EFECE4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E0A800"/>
                </a:solidFill>
                <a:latin typeface="Poppins"/>
              </a:rPr>
              <a:t>HONEST CAVEAT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Our difficulty tiers are </a:t>
            </a:r>
            <a:r>
              <a:rPr b="1" sz="1300">
                <a:solidFill>
                  <a:srgbClr val="12100C"/>
                </a:solidFill>
                <a:latin typeface="Poppins"/>
              </a:rPr>
              <a:t>semantic hand-labels</a:t>
            </a:r>
            <a:r>
              <a:rPr sz="1300">
                <a:solidFill>
                  <a:srgbClr val="3A362E"/>
                </a:solidFill>
                <a:latin typeface="Poppins"/>
              </a:rPr>
              <a:t>, confounded with “clutter”. To claim anti-correlation with </a:t>
            </a:r>
            <a:r>
              <a:rPr b="1" sz="1300">
                <a:solidFill>
                  <a:srgbClr val="12100C"/>
                </a:solidFill>
                <a:latin typeface="Poppins"/>
              </a:rPr>
              <a:t>difficulty</a:t>
            </a:r>
            <a:r>
              <a:rPr sz="1300">
                <a:solidFill>
                  <a:srgbClr val="3A362E"/>
                </a:solidFill>
                <a:latin typeface="Poppins"/>
              </a:rPr>
              <a:t> proper we need per-class FID — which does require real ImageNet reference images. That is the one place in this project where the dataset is genuinely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Key finding (b) — lemon vs crane, drawn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+10</a:t>
            </a:r>
          </a:p>
        </p:txBody>
      </p:sp>
      <p:pic>
        <p:nvPicPr>
          <p:cNvPr id="4" name="Picture 3" descr="fig4_lemon_vs_cr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10607040" cy="3366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012226"/>
            <a:ext cx="11185855" cy="175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500">
                <a:solidFill>
                  <a:srgbClr val="12100C"/>
                </a:solidFill>
                <a:latin typeface="Poppins"/>
              </a:rPr>
              <a:t>Lemon (blue) sits above both cranes at every timestep.</a:t>
            </a:r>
            <a:r>
              <a:rPr sz="1500">
                <a:solidFill>
                  <a:srgbClr val="3A362E"/>
                </a:solidFill>
                <a:latin typeface="Poppins"/>
              </a:rPr>
              <a:t> The unimodal class — the one the proposal expects to be *least* uncertain early — carries the most seed variance.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E685C"/>
                </a:solidFill>
                <a:latin typeface="Poppins"/>
              </a:rPr>
              <a:t>Right panel: all three attention-entropy curves coincide. U</a:t>
            </a:r>
            <a:r>
              <a:rPr baseline="-25000" sz="1500">
                <a:solidFill>
                  <a:srgbClr val="6E685C"/>
                </a:solidFill>
                <a:latin typeface="Poppins"/>
              </a:rPr>
              <a:t>attn</a:t>
            </a:r>
            <a:r>
              <a:rPr sz="1500">
                <a:solidFill>
                  <a:srgbClr val="6E685C"/>
                </a:solidFill>
                <a:latin typeface="Poppins"/>
              </a:rPr>
              <a:t> does not distinguish the ambiguous class from the unimodal one either.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Spatial — where the seeds disagree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+11</a:t>
            </a:r>
          </a:p>
        </p:txBody>
      </p:sp>
      <p:pic>
        <p:nvPicPr>
          <p:cNvPr id="4" name="Picture 3" descr="fig5_patch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054" y="1234440"/>
            <a:ext cx="364358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300">
                <a:solidFill>
                  <a:srgbClr val="12100C"/>
                </a:solidFill>
                <a:latin typeface="Poppins"/>
              </a:rPr>
              <a:t>Early:</a:t>
            </a:r>
            <a:r>
              <a:rPr sz="1300">
                <a:solidFill>
                  <a:srgbClr val="3A362E"/>
                </a:solidFill>
                <a:latin typeface="Poppins"/>
              </a:rPr>
              <a:t> uncertainty is diffuse and low — no structure has been committed to.  </a:t>
            </a:r>
            <a:r>
              <a:rPr b="1" sz="1300">
                <a:solidFill>
                  <a:srgbClr val="12100C"/>
                </a:solidFill>
                <a:latin typeface="Poppins"/>
              </a:rPr>
              <a:t>Late:</a:t>
            </a:r>
            <a:r>
              <a:rPr sz="1300">
                <a:solidFill>
                  <a:srgbClr val="3A362E"/>
                </a:solidFill>
                <a:latin typeface="Poppins"/>
              </a:rPr>
              <a:t> it concentrates on object boundaries and texture. The seeds have agreed on what to draw and now disagree on detail.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6E685C"/>
                </a:solidFill>
                <a:latin typeface="Poppins"/>
              </a:rPr>
              <a:t>Next (Task 4): compare these maps against SAM / DINO masks and test whether high-uncertainty patches co-localise with semantically ambiguous regions.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 tIns="91440" bIns="91440"/>
          <a:lstStyle/>
          <a:p>
            <a:pPr algn="ctr"/>
            <a:r>
              <a:rPr sz="2800" b="0">
                <a:solidFill>
                  <a:srgbClr val="12100C"/>
                </a:solidFill>
                <a:latin typeface="Poppins"/>
              </a:rPr>
              <a:t>Roadmap — mapped onto the curator's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85C"/>
                </a:solidFill>
                <a:latin typeface="Poppins"/>
              </a:rPr>
              <a:t>+12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F6F4F"/>
                </a:solidFill>
                <a:latin typeface="Poppins"/>
              </a:rPr>
              <a:t>DONE — TASK 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Two of three proxies implemented on pretrained DiT-XL/2, training-free, logged over 50 classes × 20 timestep bins. Two clean negative results.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B03A2E"/>
                </a:solidFill>
                <a:latin typeface="Poppins"/>
              </a:rPr>
              <a:t>BLOCKED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A362E"/>
                </a:solidFill>
                <a:latin typeface="Poppins"/>
              </a:rPr>
              <a:t>U</a:t>
            </a:r>
            <a:r>
              <a:rPr baseline="-25000" sz="1400">
                <a:solidFill>
                  <a:srgbClr val="3A362E"/>
                </a:solidFill>
                <a:latin typeface="Poppins"/>
              </a:rPr>
              <a:t>route</a:t>
            </a:r>
            <a:r>
              <a:rPr sz="1400">
                <a:solidFill>
                  <a:srgbClr val="3A362E"/>
                </a:solidFill>
                <a:latin typeface="Poppins"/>
              </a:rPr>
              <a:t> — needs a TREAD checkpoint. Gates Tasks 2, 3 and 5.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12100C"/>
                </a:solidFill>
                <a:latin typeface="Poppins"/>
              </a:rPr>
              <a:t>NEXT, PER THE PROPOSAL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Task 2</a:t>
            </a:r>
            <a:r>
              <a:rPr sz="1300">
                <a:solidFill>
                  <a:srgbClr val="3A362E"/>
                </a:solidFill>
                <a:latin typeface="Poppins"/>
              </a:rPr>
              <a:t> — validate U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route</a:t>
            </a:r>
            <a:r>
              <a:rPr sz="1300">
                <a:solidFill>
                  <a:srgbClr val="3A362E"/>
                </a:solidFill>
                <a:latin typeface="Poppins"/>
              </a:rPr>
              <a:t> as epistemic: OOD sensitivity, capacity trend across DiT-B/L/XL, non-redundancy vs U</a:t>
            </a:r>
            <a:r>
              <a:rPr baseline="-25000" sz="1300">
                <a:solidFill>
                  <a:srgbClr val="3A362E"/>
                </a:solidFill>
                <a:latin typeface="Poppins"/>
              </a:rPr>
              <a:t>ens</a:t>
            </a:r>
            <a:r>
              <a:rPr sz="1300">
                <a:solidFill>
                  <a:srgbClr val="3A362E"/>
                </a:solidFill>
                <a:latin typeface="Poppins"/>
              </a:rPr>
              <a:t>, route-sanity ablation.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Task 3</a:t>
            </a:r>
            <a:r>
              <a:rPr sz="1300">
                <a:solidFill>
                  <a:srgbClr val="3A362E"/>
                </a:solidFill>
                <a:latin typeface="Poppins"/>
              </a:rPr>
              <a:t> — epistemic / aleatoric decomposition; locate the mode-transition point t*.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Task 4</a:t>
            </a:r>
            <a:r>
              <a:rPr sz="1300">
                <a:solidFill>
                  <a:srgbClr val="3A362E"/>
                </a:solidFill>
                <a:latin typeface="Poppins"/>
              </a:rPr>
              <a:t> — spatial heatmaps vs SAM / DINO masks.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Task 5</a:t>
            </a:r>
            <a:r>
              <a:rPr sz="1300">
                <a:solidFill>
                  <a:srgbClr val="3A362E"/>
                </a:solidFill>
                <a:latin typeface="Poppins"/>
              </a:rPr>
              <a:t> — link uncertainty to per-sample quality (CLIP, IS contribution, intra-class LPIPS).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A362E"/>
                </a:solidFill>
                <a:latin typeface="Poppins"/>
              </a:rPr>
              <a:t>•  </a:t>
            </a:r>
            <a:r>
              <a:rPr b="1" sz="1300">
                <a:solidFill>
                  <a:srgbClr val="12100C"/>
                </a:solidFill>
                <a:latin typeface="Poppins"/>
              </a:rPr>
              <a:t>Fix the confound</a:t>
            </a:r>
            <a:r>
              <a:rPr sz="1300">
                <a:solidFill>
                  <a:srgbClr val="3A362E"/>
                </a:solidFill>
                <a:latin typeface="Poppins"/>
              </a:rPr>
              <a:t> — per-class FID for honest stratification; re-measure variance in a semantic embedding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40680"/>
            <a:ext cx="11185855" cy="868680"/>
          </a:xfrm>
          <a:prstGeom prst="rect">
            <a:avLst/>
          </a:prstGeom>
          <a:solidFill>
            <a:srgbClr val="EFECE4"/>
          </a:solidFill>
          <a:ln w="12700">
            <a:solidFill>
              <a:srgbClr val="E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E0A800"/>
                </a:solidFill>
                <a:latin typeface="Poppins"/>
              </a:rPr>
              <a:t>KEEP SLIDE 6 AS IT IS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3A362E"/>
                </a:solidFill>
                <a:latin typeface="Poppins"/>
              </a:rPr>
              <a:t>Slide 6 already proposes uncertainty-adaptive sampling and entropy-guided routing. That stays. This slide sits </a:t>
            </a:r>
            <a:r>
              <a:rPr b="1" sz="1300">
                <a:solidFill>
                  <a:srgbClr val="12100C"/>
                </a:solidFill>
                <a:latin typeface="Poppins"/>
              </a:rPr>
              <a:t>in front of it</a:t>
            </a:r>
            <a:r>
              <a:rPr sz="1300">
                <a:solidFill>
                  <a:srgbClr val="3A362E"/>
                </a:solidFill>
                <a:latin typeface="Poppins"/>
              </a:rPr>
              <a:t>, so the deck answers the curator’s brief first and pitches the extension second.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